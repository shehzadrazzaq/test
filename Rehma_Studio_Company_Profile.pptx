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200" b="1">
                <a:solidFill>
                  <a:srgbClr val="F2F2F6"/>
                </a:solidFill>
                <a:latin typeface="Calibri"/>
              </a:rPr>
              <a:t>REHMA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01752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B4B4C0"/>
                </a:solidFill>
                <a:latin typeface="Calibri"/>
              </a:rPr>
              <a:t>Building Brands That Look Premium, Convert Better, and Scale Faster.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3949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7E57FF"/>
                </a:solidFill>
                <a:latin typeface="Calibri"/>
              </a:rPr>
              <a:t>Branding • Websites • Software •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Who We 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We Build Digital Infrastructure For Modern Businesses.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1945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2F2F6"/>
                </a:solidFill>
              </a:defRPr>
            </a:pPr>
            <a:r>
              <a:t>Rehma Studio helps companies create a professional brand presence, launch high-converting websites, and streamline operations through software and automation.</a:t>
            </a:r>
          </a:p>
          <a:p>
            <a:pPr>
              <a:defRPr sz="2100">
                <a:solidFill>
                  <a:srgbClr val="F2F2F6"/>
                </a:solidFill>
              </a:defRPr>
            </a:pPr>
            <a:r>
              <a:t>We combine strategy, design, development, and AI to help businesses grow faster while maintaining a premium image.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480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E57FF"/>
                </a:solidFill>
              </a:rPr>
              <a:t>Our Focus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846320"/>
            <a:ext cx="6583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• Branding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• Website Design &amp; Development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• Software Development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• AI Automation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• UI/UX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The Problem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Most Businesses Lose Opportunities Before The First Conversation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19456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2F2F6"/>
                </a:solidFill>
              </a:defRPr>
            </a:pPr>
            <a:r>
              <a:t>A prospect visits your website.</a:t>
            </a:r>
          </a:p>
          <a:p>
            <a:pPr>
              <a:spcAft>
                <a:spcPts val="600"/>
              </a:spcAft>
              <a:defRPr sz="2000">
                <a:solidFill>
                  <a:srgbClr val="F2F2F6"/>
                </a:solidFill>
              </a:defRPr>
            </a:pPr>
            <a:r>
              <a:t>Within seconds they decide:</a:t>
            </a:r>
          </a:p>
          <a:p>
            <a:pPr>
              <a:spcAft>
                <a:spcPts val="600"/>
              </a:spcAft>
              <a:defRPr sz="1800">
                <a:solidFill>
                  <a:srgbClr val="F2F2F6"/>
                </a:solidFill>
              </a:defRPr>
            </a:pPr>
            <a:r>
              <a:t>✕ Can I trust this company?</a:t>
            </a:r>
          </a:p>
          <a:p>
            <a:pPr>
              <a:spcAft>
                <a:spcPts val="600"/>
              </a:spcAft>
              <a:defRPr sz="1800">
                <a:solidFill>
                  <a:srgbClr val="F2F2F6"/>
                </a:solidFill>
              </a:defRPr>
            </a:pPr>
            <a:r>
              <a:t>✕ Do they look established?</a:t>
            </a:r>
          </a:p>
          <a:p>
            <a:pPr>
              <a:spcAft>
                <a:spcPts val="600"/>
              </a:spcAft>
              <a:defRPr sz="1800">
                <a:solidFill>
                  <a:srgbClr val="F2F2F6"/>
                </a:solidFill>
              </a:defRPr>
            </a:pPr>
            <a:r>
              <a:t>✕ Are they professional?</a:t>
            </a:r>
          </a:p>
          <a:p>
            <a:pPr>
              <a:spcAft>
                <a:spcPts val="600"/>
              </a:spcAft>
              <a:defRPr sz="1800">
                <a:solidFill>
                  <a:srgbClr val="F2F2F6"/>
                </a:solidFill>
              </a:defRPr>
            </a:pPr>
            <a:r>
              <a:t>✕ Are they worth contacting?</a:t>
            </a:r>
          </a:p>
          <a:p>
            <a:pPr>
              <a:spcAft>
                <a:spcPts val="600"/>
              </a:spcAft>
              <a:defRPr sz="1800">
                <a:solidFill>
                  <a:srgbClr val="B4B4C0"/>
                </a:solidFill>
              </a:defRPr>
            </a:pPr>
            <a:r>
              <a:t>Many businesses have excellent products and services but lose customers because their digital presence doesn't communicate credibility.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What We 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End-To-End Growth Infrastructure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2194560"/>
            <a:ext cx="2743200" cy="1691640"/>
          </a:xfrm>
          <a:prstGeom prst="roundRect">
            <a:avLst/>
          </a:prstGeom>
          <a:solidFill>
            <a:srgbClr val="14141C"/>
          </a:solidFill>
          <a:ln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E57FF"/>
                </a:solidFill>
              </a:defRPr>
            </a:pPr>
            <a:r>
              <a:t>Brand Identity</a:t>
            </a:r>
          </a:p>
          <a:p>
            <a:pPr>
              <a:defRPr sz="1300">
                <a:solidFill>
                  <a:srgbClr val="F2F2F6"/>
                </a:solidFill>
              </a:defRPr>
            </a:pPr>
            <a:r>
              <a:t>Logos, visual systems, brand guidelines, positioning.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31920" y="2194560"/>
            <a:ext cx="2743200" cy="1691640"/>
          </a:xfrm>
          <a:prstGeom prst="roundRect">
            <a:avLst/>
          </a:prstGeom>
          <a:solidFill>
            <a:srgbClr val="14141C"/>
          </a:solidFill>
          <a:ln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E57FF"/>
                </a:solidFill>
              </a:defRPr>
            </a:pPr>
            <a:r>
              <a:t>Websites</a:t>
            </a:r>
          </a:p>
          <a:p>
            <a:pPr>
              <a:defRPr sz="1300">
                <a:solidFill>
                  <a:srgbClr val="F2F2F6"/>
                </a:solidFill>
              </a:defRPr>
            </a:pPr>
            <a:r>
              <a:t>Modern, responsive websites designed for conversion.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2194560"/>
            <a:ext cx="2743200" cy="1691640"/>
          </a:xfrm>
          <a:prstGeom prst="roundRect">
            <a:avLst/>
          </a:prstGeom>
          <a:solidFill>
            <a:srgbClr val="14141C"/>
          </a:solidFill>
          <a:ln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E57FF"/>
                </a:solidFill>
              </a:defRPr>
            </a:pPr>
            <a:r>
              <a:t>Software Development</a:t>
            </a:r>
          </a:p>
          <a:p>
            <a:pPr>
              <a:defRPr sz="1300">
                <a:solidFill>
                  <a:srgbClr val="F2F2F6"/>
                </a:solidFill>
              </a:defRPr>
            </a:pPr>
            <a:r>
              <a:t>Custom platforms, portals, dashboards, SaaS products.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160520"/>
            <a:ext cx="2743200" cy="1691640"/>
          </a:xfrm>
          <a:prstGeom prst="roundRect">
            <a:avLst/>
          </a:prstGeom>
          <a:solidFill>
            <a:srgbClr val="14141C"/>
          </a:solidFill>
          <a:ln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E57FF"/>
                </a:solidFill>
              </a:defRPr>
            </a:pPr>
            <a:r>
              <a:t>AI &amp; Automation</a:t>
            </a:r>
          </a:p>
          <a:p>
            <a:pPr>
              <a:defRPr sz="1300">
                <a:solidFill>
                  <a:srgbClr val="F2F2F6"/>
                </a:solidFill>
              </a:defRPr>
            </a:pPr>
            <a:r>
              <a:t>Automate repetitive processes and improve operational efficiency.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31920" y="4160520"/>
            <a:ext cx="2743200" cy="1691640"/>
          </a:xfrm>
          <a:prstGeom prst="roundRect">
            <a:avLst/>
          </a:prstGeom>
          <a:solidFill>
            <a:srgbClr val="14141C"/>
          </a:solidFill>
          <a:ln>
            <a:solidFill>
              <a:srgbClr val="2A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E57FF"/>
                </a:solidFill>
              </a:defRPr>
            </a:pPr>
            <a:r>
              <a:t>UI/UX Design</a:t>
            </a:r>
          </a:p>
          <a:p>
            <a:pPr>
              <a:defRPr sz="1300">
                <a:solidFill>
                  <a:srgbClr val="F2F2F6"/>
                </a:solidFill>
              </a:defRPr>
            </a:pPr>
            <a:r>
              <a:t>User-centered digital experiences built for engagement and usability.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Why Clients Choose 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A Single Partner For Design, Technology, And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1031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2F2F6"/>
                </a:solidFill>
              </a:defRPr>
            </a:pPr>
            <a:r>
              <a:t>Instead of managing multiple vendors, businesses work with one team capable of delivering complete digital solutions.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3017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7E57FF"/>
                </a:solidFill>
              </a:rPr>
              <a:t>Benefits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474720"/>
            <a:ext cx="7132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Premium Design Quality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Business-Focused Strategy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Fast Execution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Scalable Solutions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Transparent Communication</a:t>
            </a:r>
          </a:p>
          <a:p>
            <a:pPr>
              <a:spcAft>
                <a:spcPts val="800"/>
              </a:spcAft>
              <a:defRPr sz="1800">
                <a:solidFill>
                  <a:srgbClr val="F2F2F6"/>
                </a:solidFill>
                <a:latin typeface="Calibri"/>
              </a:defRPr>
            </a:pPr>
            <a:r>
              <a:t>✓ Long-Term Partnership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Our 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A Structured Approach To Every Project</a:t>
            </a:r>
          </a:p>
        </p:txBody>
      </p:sp>
      <p:sp>
        <p:nvSpPr>
          <p:cNvPr id="40" name="Straight Connector 39"/>
          <p:cNvSpPr/>
          <p:nvPr/>
        </p:nvSpPr>
        <p:spPr>
          <a:xfrm>
            <a:off x="914400" y="3108960"/>
            <a:ext cx="10241280" cy="0"/>
          </a:xfrm>
          <a:prstGeom prst="lineInv">
            <a:avLst/>
          </a:prstGeom>
          <a:ln w="25400">
            <a:solidFill>
              <a:srgbClr val="3C3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7240" y="2971800"/>
            <a:ext cx="274320" cy="2743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-91440" y="3337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F2F6"/>
                </a:solidFill>
              </a:defRPr>
            </a:pPr>
            <a:r>
              <a:t>01 Discover</a:t>
            </a:r>
          </a:p>
          <a:p>
            <a:pPr algn="ctr">
              <a:defRPr sz="1100">
                <a:solidFill>
                  <a:srgbClr val="B4B4C0"/>
                </a:solidFill>
              </a:defRPr>
            </a:pPr>
            <a:r>
              <a:t>Understand goals, audience, and business challenges.</a:t>
            </a:r>
          </a:p>
        </p:txBody>
      </p:sp>
      <p:sp>
        <p:nvSpPr>
          <p:cNvPr id="43" name="Oval 42"/>
          <p:cNvSpPr/>
          <p:nvPr/>
        </p:nvSpPr>
        <p:spPr>
          <a:xfrm>
            <a:off x="3337560" y="2971800"/>
            <a:ext cx="274320" cy="2743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0" y="3337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F2F6"/>
                </a:solidFill>
              </a:defRPr>
            </a:pPr>
            <a:r>
              <a:t>02 Strategize</a:t>
            </a:r>
          </a:p>
          <a:p>
            <a:pPr algn="ctr">
              <a:defRPr sz="1100">
                <a:solidFill>
                  <a:srgbClr val="B4B4C0"/>
                </a:solidFill>
              </a:defRPr>
            </a:pPr>
            <a:r>
              <a:t>Define direction, positioning, and requirements.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2971800"/>
            <a:ext cx="274320" cy="2743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3337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F2F6"/>
                </a:solidFill>
              </a:defRPr>
            </a:pPr>
            <a:r>
              <a:t>03 Design</a:t>
            </a:r>
          </a:p>
          <a:p>
            <a:pPr algn="ctr">
              <a:defRPr sz="1100">
                <a:solidFill>
                  <a:srgbClr val="B4B4C0"/>
                </a:solidFill>
              </a:defRPr>
            </a:pPr>
            <a:r>
              <a:t>Create experiences that build trust and drive action.</a:t>
            </a:r>
          </a:p>
        </p:txBody>
      </p:sp>
      <p:sp>
        <p:nvSpPr>
          <p:cNvPr id="47" name="Oval 46"/>
          <p:cNvSpPr/>
          <p:nvPr/>
        </p:nvSpPr>
        <p:spPr>
          <a:xfrm>
            <a:off x="8458200" y="2971800"/>
            <a:ext cx="274320" cy="2743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3337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F2F6"/>
                </a:solidFill>
              </a:defRPr>
            </a:pPr>
            <a:r>
              <a:t>04 Develop</a:t>
            </a:r>
          </a:p>
          <a:p>
            <a:pPr algn="ctr">
              <a:defRPr sz="1100">
                <a:solidFill>
                  <a:srgbClr val="B4B4C0"/>
                </a:solidFill>
              </a:defRPr>
            </a:pPr>
            <a:r>
              <a:t>Build scalable, high-performance digital products.</a:t>
            </a:r>
          </a:p>
        </p:txBody>
      </p:sp>
      <p:sp>
        <p:nvSpPr>
          <p:cNvPr id="49" name="Oval 48"/>
          <p:cNvSpPr/>
          <p:nvPr/>
        </p:nvSpPr>
        <p:spPr>
          <a:xfrm>
            <a:off x="11018520" y="2971800"/>
            <a:ext cx="274320" cy="2743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49840" y="333756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F2F6"/>
                </a:solidFill>
              </a:defRPr>
            </a:pPr>
            <a:r>
              <a:t>05 Launch &amp; Optimize</a:t>
            </a:r>
          </a:p>
          <a:p>
            <a:pPr algn="ctr">
              <a:defRPr sz="1100">
                <a:solidFill>
                  <a:srgbClr val="B4B4C0"/>
                </a:solidFill>
              </a:defRPr>
            </a:pPr>
            <a:r>
              <a:t>Monitor performance and continuously improve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Results We Focus 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We Measure Success By Business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10312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F2F2F6"/>
                </a:solidFill>
              </a:defRPr>
            </a:pPr>
            <a:r>
              <a:t>Increase credibility</a:t>
            </a:r>
          </a:p>
          <a:p>
            <a:pPr>
              <a:defRPr sz="3300" b="1">
                <a:solidFill>
                  <a:srgbClr val="7E57FF"/>
                </a:solidFill>
              </a:defRPr>
            </a:pPr>
            <a:r>
              <a:t>Improve conversion rates</a:t>
            </a:r>
          </a:p>
          <a:p>
            <a:pPr>
              <a:defRPr sz="3300" b="1">
                <a:solidFill>
                  <a:srgbClr val="F2F2F6"/>
                </a:solidFill>
              </a:defRPr>
            </a:pPr>
            <a:r>
              <a:t>Generate more leads</a:t>
            </a:r>
          </a:p>
          <a:p>
            <a:pPr>
              <a:defRPr sz="3300" b="1">
                <a:solidFill>
                  <a:srgbClr val="7E57FF"/>
                </a:solidFill>
              </a:defRPr>
            </a:pPr>
            <a:r>
              <a:t>Streamline operations</a:t>
            </a:r>
          </a:p>
          <a:p>
            <a:pPr>
              <a:defRPr sz="3300" b="1">
                <a:solidFill>
                  <a:srgbClr val="F2F2F6"/>
                </a:solidFill>
              </a:defRPr>
            </a:pPr>
            <a:r>
              <a:t>Create stronger customer experiences</a:t>
            </a:r>
          </a:p>
          <a:p>
            <a:pPr>
              <a:defRPr sz="3300" b="1">
                <a:solidFill>
                  <a:srgbClr val="7E57FF"/>
                </a:solidFill>
              </a:defRPr>
            </a:pPr>
            <a:r>
              <a:t>Build long-term brand equity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Selected Capabilities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What We Can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0116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E57FF"/>
                </a:solidFill>
              </a:rPr>
              <a:t>Websites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203911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2F2F6"/>
                </a:solidFill>
              </a:rPr>
              <a:t>Corporate Websites, Landing Pages, E-Commerce, Web Applications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1089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E57FF"/>
                </a:solidFill>
              </a:rPr>
              <a:t>Software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13639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2F2F6"/>
                </a:solidFill>
              </a:rPr>
              <a:t>Dashboards, Portals, Internal Systems, SaaS Platforms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E57FF"/>
                </a:solidFill>
              </a:rPr>
              <a:t>Branding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23367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2F2F6"/>
                </a:solidFill>
              </a:rPr>
              <a:t>Logo Design, Visual Identity, Brand Guidelines, Marketing Assets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3035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E57FF"/>
                </a:solidFill>
              </a:rPr>
              <a:t>Automation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330952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2F2F6"/>
                </a:solidFill>
              </a:rPr>
              <a:t>AI Agents, Workflow Automation, Lead Management, Business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2F2F6"/>
                </a:solidFill>
                <a:latin typeface="Calibri"/>
              </a:rPr>
              <a:t>Why Rehma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B4B4C0"/>
                </a:solidFill>
                <a:latin typeface="Calibri"/>
              </a:rPr>
              <a:t>Premium Quality Without Agency Complexity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28600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2F2F6"/>
                </a:solidFill>
              </a:defRPr>
            </a:pPr>
            <a:r>
              <a:t>We combine creative thinking with technical execution.</a:t>
            </a:r>
          </a:p>
          <a:p>
            <a:pPr>
              <a:spcAft>
                <a:spcPts val="800"/>
              </a:spcAft>
              <a:defRPr sz="2000" b="0">
                <a:solidFill>
                  <a:srgbClr val="F2F2F6"/>
                </a:solidFill>
              </a:defRPr>
            </a:pPr>
            <a:r>
              <a:t>Our clients work directly with experienced specialists who understand both design and business objectives.</a:t>
            </a:r>
          </a:p>
          <a:p>
            <a:pPr>
              <a:spcAft>
                <a:spcPts val="800"/>
              </a:spcAft>
              <a:defRPr sz="2000" b="0">
                <a:solidFill>
                  <a:srgbClr val="F2F2F6"/>
                </a:solidFill>
              </a:defRPr>
            </a:pPr>
            <a:r>
              <a:t>No unnecessary layers. No inflated retainers. No generic solutions.</a:t>
            </a:r>
          </a:p>
          <a:p>
            <a:pPr>
              <a:spcAft>
                <a:spcPts val="800"/>
              </a:spcAft>
              <a:defRPr sz="2400" b="1">
                <a:solidFill>
                  <a:srgbClr val="7E57FF"/>
                </a:solidFill>
              </a:defRPr>
            </a:pPr>
            <a:r>
              <a:t>Only work that creates measurable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aight Connector 2"/>
          <p:cNvSpPr/>
          <p:nvPr/>
        </p:nvSpPr>
        <p:spPr>
          <a:xfrm>
            <a:off x="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raight Connector 3"/>
          <p:cNvSpPr/>
          <p:nvPr/>
        </p:nvSpPr>
        <p:spPr>
          <a:xfrm>
            <a:off x="6400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2801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aight Connector 5"/>
          <p:cNvSpPr/>
          <p:nvPr/>
        </p:nvSpPr>
        <p:spPr>
          <a:xfrm>
            <a:off x="19202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aight Connector 6"/>
          <p:cNvSpPr/>
          <p:nvPr/>
        </p:nvSpPr>
        <p:spPr>
          <a:xfrm>
            <a:off x="25603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aight Connector 7"/>
          <p:cNvSpPr/>
          <p:nvPr/>
        </p:nvSpPr>
        <p:spPr>
          <a:xfrm>
            <a:off x="32004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aight Connector 8"/>
          <p:cNvSpPr/>
          <p:nvPr/>
        </p:nvSpPr>
        <p:spPr>
          <a:xfrm>
            <a:off x="38404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aight Connector 9"/>
          <p:cNvSpPr/>
          <p:nvPr/>
        </p:nvSpPr>
        <p:spPr>
          <a:xfrm>
            <a:off x="44805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aight Connector 10"/>
          <p:cNvSpPr/>
          <p:nvPr/>
        </p:nvSpPr>
        <p:spPr>
          <a:xfrm>
            <a:off x="51206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aight Connector 11"/>
          <p:cNvSpPr/>
          <p:nvPr/>
        </p:nvSpPr>
        <p:spPr>
          <a:xfrm>
            <a:off x="57607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aight Connector 12"/>
          <p:cNvSpPr/>
          <p:nvPr/>
        </p:nvSpPr>
        <p:spPr>
          <a:xfrm>
            <a:off x="64008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70408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76809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83210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89611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aight Connector 17"/>
          <p:cNvSpPr/>
          <p:nvPr/>
        </p:nvSpPr>
        <p:spPr>
          <a:xfrm>
            <a:off x="960120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1024128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raight Connector 19"/>
          <p:cNvSpPr/>
          <p:nvPr/>
        </p:nvSpPr>
        <p:spPr>
          <a:xfrm>
            <a:off x="1088136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1152144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2161520" y="0"/>
            <a:ext cx="0" cy="685800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0" y="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raight Connector 23"/>
          <p:cNvSpPr/>
          <p:nvPr/>
        </p:nvSpPr>
        <p:spPr>
          <a:xfrm>
            <a:off x="0" y="6400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0" y="12801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0" y="19202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0" y="25603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0" y="32004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raight Connector 28"/>
          <p:cNvSpPr/>
          <p:nvPr/>
        </p:nvSpPr>
        <p:spPr>
          <a:xfrm>
            <a:off x="0" y="384048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raight Connector 29"/>
          <p:cNvSpPr/>
          <p:nvPr/>
        </p:nvSpPr>
        <p:spPr>
          <a:xfrm>
            <a:off x="0" y="448056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raight Connector 30"/>
          <p:cNvSpPr/>
          <p:nvPr/>
        </p:nvSpPr>
        <p:spPr>
          <a:xfrm>
            <a:off x="0" y="512064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raight Connector 31"/>
          <p:cNvSpPr/>
          <p:nvPr/>
        </p:nvSpPr>
        <p:spPr>
          <a:xfrm>
            <a:off x="0" y="576072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aight Connector 32"/>
          <p:cNvSpPr/>
          <p:nvPr/>
        </p:nvSpPr>
        <p:spPr>
          <a:xfrm>
            <a:off x="0" y="6400800"/>
            <a:ext cx="12191695" cy="0"/>
          </a:xfrm>
          <a:prstGeom prst="lineInv">
            <a:avLst/>
          </a:prstGeom>
          <a:ln w="6350">
            <a:solidFill>
              <a:srgbClr val="1C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16975" y="-731520"/>
            <a:ext cx="3474720" cy="34747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34095" y="-868680"/>
            <a:ext cx="2834640" cy="283464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51215" y="-1005840"/>
            <a:ext cx="2194560" cy="219456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68335" y="-1143000"/>
            <a:ext cx="1554480" cy="155448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2F2F6"/>
                </a:solidFill>
                <a:latin typeface="Calibri"/>
              </a:rPr>
              <a:t>Let's Build Something Valuable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7E57FF"/>
                </a:solidFill>
                <a:latin typeface="Calibri"/>
              </a:rPr>
              <a:t>Rehma Studio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2F2F6"/>
                </a:solidFill>
                <a:latin typeface="Calibri"/>
              </a:rPr>
              <a:t>Branding. Websites. Software. Automation.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4805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4B4C0"/>
                </a:solidFill>
                <a:latin typeface="Calibri"/>
              </a:rPr>
              <a:t>Email rehmastudioofficial@gmail.com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2F2F6"/>
                </a:solidFill>
                <a:latin typeface="Calibri"/>
              </a:rPr>
              <a:t>Book A Discovery 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